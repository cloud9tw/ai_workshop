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56" y="-9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63870" y="1097280"/>
            <a:ext cx="1463040" cy="1463040"/>
          </a:xfrm>
          <a:prstGeom prst="roundRect">
            <a:avLst/>
          </a:prstGeom>
          <a:solidFill>
            <a:srgbClr val="121826"/>
          </a:solidFill>
          <a:ln w="381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0F2FE"/>
                </a:solidFill>
                <a:latin typeface="Arial"/>
              </a:defRPr>
            </a:pPr>
            <a:r>
              <a:t>07-03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3F4F6"/>
                </a:solidFill>
                <a:latin typeface="Microsoft JhengHei"/>
              </a:defRPr>
            </a:pPr>
            <a:r>
              <a:t>分層教學評量系統與 AI 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CA3AF"/>
                </a:solidFill>
                <a:latin typeface="Microsoft JhengHei"/>
              </a:defRPr>
            </a:pPr>
            <a:r>
              <a:t>結合分層結構、RAG 知識防線與即時分析管線的教學評量閉環解決方案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  <a:latin typeface="Microsoft JhengHei"/>
              </a:defRPr>
            </a:pPr>
            <a:r>
              <a:t>📅 日期時間：2026-07-03 18:22:27  |  📍 地點：[插入地點]  |  👤 講師：[插入姓名]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LECTURE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講座摘要與核心目標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2056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2FE"/>
                </a:solidFill>
                <a:latin typeface="Microsoft JhengHei"/>
              </a:defRPr>
            </a:pPr>
            <a:r>
              <a:rPr dirty="0"/>
              <a:t>📝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  <a:latin typeface="Microsoft JhengHei"/>
              </a:defRPr>
            </a:pPr>
            <a:r>
              <a:rPr lang="zh-TW" altLang="en-US" dirty="0"/>
              <a:t>針對學習歷程的記錄及個人化學習路徑的建立，嘗試建立一套流程利用</a:t>
            </a:r>
            <a:r>
              <a:rPr lang="en-US" altLang="zh-TW" dirty="0"/>
              <a:t>AI</a:t>
            </a:r>
            <a:r>
              <a:rPr lang="zh-TW" altLang="en-US" dirty="0"/>
              <a:t>介入產生專業評估並生成學習建議</a:t>
            </a:r>
            <a:br>
              <a:rPr dirty="0"/>
            </a:br>
            <a:br>
              <a:rPr dirty="0"/>
            </a:br>
            <a:r>
              <a:rPr dirty="0" err="1"/>
              <a:t>核心重點在於引進</a:t>
            </a:r>
            <a:r>
              <a:rPr dirty="0"/>
              <a:t> RAG </a:t>
            </a:r>
            <a:r>
              <a:rPr dirty="0" err="1"/>
              <a:t>限制</a:t>
            </a:r>
            <a:r>
              <a:rPr dirty="0"/>
              <a:t> AI </a:t>
            </a:r>
            <a:r>
              <a:rPr lang="zh-TW" altLang="en-US" dirty="0"/>
              <a:t>以專業內容</a:t>
            </a:r>
            <a:r>
              <a:rPr dirty="0" err="1"/>
              <a:t>回覆</a:t>
            </a:r>
            <a:r>
              <a:rPr lang="zh-TW" altLang="en-US" dirty="0"/>
              <a:t>，</a:t>
            </a:r>
            <a:r>
              <a:rPr dirty="0"/>
              <a:t>以避免幻覺、優化評量縮短時差、精簡評語為50字、並對報告加註信賴星等，兼顧師生雙向需求。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rPr dirty="0"/>
              <a:t>🎯 </a:t>
            </a:r>
            <a:r>
              <a:rPr dirty="0" err="1"/>
              <a:t>核心聚焦目標</a:t>
            </a:r>
            <a:endParaRPr dirty="0"/>
          </a:p>
          <a:p>
            <a:pPr>
              <a:defRPr sz="1400" b="1">
                <a:solidFill>
                  <a:srgbClr val="F3F4F6"/>
                </a:solidFill>
                <a:latin typeface="Microsoft JhengHei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RAG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知識邊界防線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排除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AI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生成幻覺，回答嚴格限制在檢索到的專業文獻內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defRPr sz="1400" b="1">
                <a:solidFill>
                  <a:srgbClr val="F3F4F6"/>
                </a:solidFill>
                <a:latin typeface="Microsoft JhengHei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當日分析與決策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SOP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將傳統長達兩個月的評量滯後，壓縮在當日完成數據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整理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defRPr sz="1400" b="1">
                <a:solidFill>
                  <a:srgbClr val="F3F4F6"/>
                </a:solidFill>
                <a:latin typeface="Microsoft JhengHei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50字回饋</a:t>
            </a:r>
            <a:r>
              <a:rPr lang="zh-TW" altLang="en-US" sz="1400" b="1" dirty="0">
                <a:solidFill>
                  <a:srgbClr val="F3F4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壓縮</a:t>
            </a:r>
            <a:endParaRPr sz="1400" b="1" dirty="0">
              <a:solidFill>
                <a:srgbClr val="F3F4F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將較為發散的評語利用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壓縮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字以內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以利教師參考時快速取得評量重點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系統分層與結構設計 (Layer 1 - 4)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rPr dirty="0"/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F4F6"/>
                </a:solidFill>
                <a:latin typeface="Microsoft JhengHei"/>
              </a:defRPr>
            </a:pPr>
            <a:r>
              <a:rPr lang="en-US" altLang="zh-TW" dirty="0"/>
              <a:t>Subjects</a:t>
            </a:r>
          </a:p>
          <a:p>
            <a:pPr algn="ctr">
              <a:spcAft>
                <a:spcPts val="1400"/>
              </a:spcAft>
              <a:defRPr sz="1200">
                <a:solidFill>
                  <a:srgbClr val="00F2FE"/>
                </a:solidFill>
                <a:latin typeface="Microsoft JhengHei"/>
              </a:defRPr>
            </a:pPr>
            <a:r>
              <a:rPr lang="zh-TW" altLang="en-US" dirty="0"/>
              <a:t>學科核心與知識節點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rPr lang="zh-TW" altLang="en-US" dirty="0"/>
              <a:t>定義各學科核心大綱內容（高爾夫動作要點、骨科解剖學知識定義），作為整個系統與 </a:t>
            </a:r>
            <a:r>
              <a:rPr lang="en-US" altLang="zh-TW" dirty="0"/>
              <a:t>RAG </a:t>
            </a:r>
            <a:r>
              <a:rPr lang="zh-TW" altLang="en-US" dirty="0"/>
              <a:t>檢索的知識基石。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46888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194560" cy="2150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Quizzes</a:t>
            </a:r>
          </a:p>
          <a:p>
            <a:pPr algn="ctr">
              <a:spcAft>
                <a:spcPts val="1400"/>
              </a:spcAft>
              <a:defRPr sz="1200">
                <a:solidFill>
                  <a:srgbClr val="00F2FE"/>
                </a:solidFill>
                <a:latin typeface="Microsoft JhengHei"/>
              </a:defRPr>
            </a:pPr>
            <a:r>
              <a:rPr dirty="0" err="1"/>
              <a:t>測驗題庫與作答紀錄</a:t>
            </a:r>
            <a:endParaRPr dirty="0"/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包含量化（選擇題、結構化題型）與質性（開放簡答題</a:t>
            </a:r>
            <a:r>
              <a:rPr dirty="0"/>
              <a:t>），</a:t>
            </a:r>
            <a:r>
              <a:rPr dirty="0" err="1"/>
              <a:t>負責格式化收集學員現場及線上的作答歷程資料</a:t>
            </a:r>
            <a:r>
              <a:rPr dirty="0"/>
              <a:t>。</a:t>
            </a:r>
            <a:br>
              <a:rPr lang="en-US" dirty="0"/>
            </a:br>
            <a:r>
              <a:rPr lang="zh-TW" altLang="en-US" dirty="0"/>
              <a:t>作答題型設有鷹架機制以降低認知負荷以提升學習成效。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LAYER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F4F6"/>
                </a:solidFill>
                <a:latin typeface="Microsoft JhengHei"/>
              </a:defRPr>
            </a:pPr>
            <a:r>
              <a:t>History</a:t>
            </a:r>
          </a:p>
          <a:p>
            <a:pPr algn="ctr">
              <a:spcAft>
                <a:spcPts val="1400"/>
              </a:spcAft>
              <a:defRPr sz="1200">
                <a:solidFill>
                  <a:srgbClr val="00F2FE"/>
                </a:solidFill>
                <a:latin typeface="Microsoft JhengHei"/>
              </a:defRPr>
            </a:pPr>
            <a:r>
              <a:t>歷程百分比與分群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t>呈現學員學習歷程追蹤，在該學科內判斷學生屬於哪個同儕分群（K-Means 模型）、哪個學習階段，並客製化 PR 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45920"/>
            <a:ext cx="246888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LAYER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37744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F4F6"/>
                </a:solidFill>
                <a:latin typeface="Microsoft JhengHei"/>
              </a:defRPr>
            </a:pPr>
            <a:r>
              <a:t>Reports</a:t>
            </a:r>
          </a:p>
          <a:p>
            <a:pPr algn="ctr">
              <a:spcAft>
                <a:spcPts val="1400"/>
              </a:spcAft>
              <a:defRPr sz="1200">
                <a:solidFill>
                  <a:srgbClr val="00F2FE"/>
                </a:solidFill>
                <a:latin typeface="Microsoft JhengHei"/>
              </a:defRPr>
            </a:pPr>
            <a:r>
              <a:t>報告輸出與 AI 稽核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t>產出學生個人化診斷與教師班級報告（PDF），搭載去識別化敏感資料安全欄位、50 字評語精簡與信賴評分。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AI &amp; RISK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AI 應用與風險控管機制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  <a:latin typeface="Microsoft JhengHei"/>
              </a:defRPr>
            </a:pPr>
            <a:r>
              <a:t>1. RAG 範圍限制與專門聚焦</a:t>
            </a:r>
          </a:p>
          <a:p>
            <a:pPr>
              <a:spcAft>
                <a:spcPts val="1400"/>
              </a:spcAft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t>AI 僅在指定專業內容資料庫內檢索，拒絕回答範疇外問題。讓 AI 回覆高度聚焦於高爾夫動作要點與骨科解剖學考照重點，杜絕 AI 幻覺風險。</a:t>
            </a:r>
          </a:p>
          <a:p>
            <a:pPr>
              <a:defRPr sz="1600" b="1">
                <a:solidFill>
                  <a:srgbClr val="00F2FE"/>
                </a:solidFill>
                <a:latin typeface="Microsoft JhengHei"/>
              </a:defRPr>
            </a:pPr>
            <a:r>
              <a:t>2. 文字摘要化與信賴星等</a:t>
            </a:r>
          </a:p>
          <a:p>
            <a:pPr>
              <a:spcAft>
                <a:spcPts val="1400"/>
              </a:spcAft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t>將發散的評語，透過 AI 統整為 50 字以內的精簡摘要。以專業 Prompt 生成學員不足面向，並標註 1-5 星信賴等級，以便教學端審閱採納。</a:t>
            </a:r>
          </a:p>
          <a:p>
            <a:pPr>
              <a:defRPr sz="1600" b="1">
                <a:solidFill>
                  <a:srgbClr val="00F2FE"/>
                </a:solidFill>
                <a:latin typeface="Microsoft JhengHei"/>
              </a:defRPr>
            </a:pPr>
            <a:r>
              <a:t>3. 個別化強化建議</a:t>
            </a:r>
          </a:p>
          <a:p>
            <a:pPr>
              <a:defRPr sz="1200">
                <a:solidFill>
                  <a:srgbClr val="9CA3AF"/>
                </a:solidFill>
                <a:latin typeface="Microsoft JhengHei"/>
              </a:defRPr>
            </a:pPr>
            <a:r>
              <a:t>針對弱點對症下藥（例如提示需強化下肢骨頭結構位置），由 AI 或規則引擎提供客製化建議，維持內容可靠性。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645920"/>
            <a:ext cx="4754880" cy="4572000"/>
          </a:xfrm>
          <a:prstGeom prst="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0B981"/>
                </a:solidFill>
                <a:latin typeface="Microsoft JhengHei"/>
              </a:defRPr>
            </a:pPr>
            <a:r>
              <a:t>💡 RAG 檢索與信賴度評分範例</a:t>
            </a:r>
          </a:p>
          <a:p>
            <a:pPr>
              <a:defRPr sz="1300" b="1">
                <a:solidFill>
                  <a:srgbClr val="F3F4F6"/>
                </a:solidFill>
              </a:defRPr>
            </a:pPr>
            <a:r>
              <a:t>▼ 查詢「斜角肌壓迫與尺神經」</a:t>
            </a:r>
          </a:p>
          <a:p>
            <a:pPr>
              <a:spcAft>
                <a:spcPts val="1600"/>
              </a:spcAft>
              <a:defRPr sz="1200">
                <a:solidFill>
                  <a:srgbClr val="9CA3AF"/>
                </a:solidFill>
              </a:defRPr>
            </a:pPr>
            <a:r>
              <a:t>→ AI 50字摘要: 「前中斜角肌與第一肋骨構成隘口壓迫臂神經叢下幹，致第四五指麻木。建議強化斜角肌伸展。」(星級：⭐⭐⭐⭐⭐)</a:t>
            </a:r>
          </a:p>
          <a:p>
            <a:pPr>
              <a:defRPr sz="1300" b="1">
                <a:solidFill>
                  <a:srgbClr val="F3F4F6"/>
                </a:solidFill>
              </a:defRPr>
            </a:pPr>
            <a:r>
              <a:t>▼ 查詢「高爾夫球動作要點」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→ AI 50字摘要: 「下桿動力鏈應由骨盆率先啟動、重心移向左足。肩膀提早轉動會導致過頂切擊與力量流失。」(星級：⭐⭐⭐⭐)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OPTIMIZATION &amp;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教學評量流程優化與時效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43F5E"/>
                </a:solidFill>
                <a:latin typeface="Microsoft JhengHei"/>
              </a:defRPr>
            </a:pPr>
            <a:r>
              <a:t>🔴 傳統流程痛點：大量評量與滯後決策</a:t>
            </a: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t>● 大量手工統計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老師需對大量量化筆試與現場術科評量進行評閱與分析，數據分散不易整合。</a:t>
            </a: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t>● 回饋嚴重滯後 (時差高達兩個月)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學員被評估後資料仍需再整理分析，往往延宕至約兩個月後召開評議會時才得到回饋，顯著影響教學即時性。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rPr dirty="0"/>
              <a:t>🟢 </a:t>
            </a:r>
            <a:r>
              <a:rPr dirty="0" err="1"/>
              <a:t>新型即時資料管線與會議</a:t>
            </a:r>
            <a:r>
              <a:rPr dirty="0"/>
              <a:t> SOP</a:t>
            </a: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當日收集、當日分析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於當日收到作答資料即刻自動分析，立即指出學生當週弱點與未來強化方向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教師與學生資訊同步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 sz="1200">
                <a:solidFill>
                  <a:srgbClr val="9CA3AF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分析結果與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AI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診斷對師生雙方同時可見，以便於當日即可同步修正學習與教學策略，完成快速改善閉環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 sz="1200">
                <a:solidFill>
                  <a:srgbClr val="9CA3AF"/>
                </a:solidFill>
              </a:defRPr>
            </a:pP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教學會議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 sz="1400" b="1">
                <a:solidFill>
                  <a:srgbClr val="F3F4F6"/>
                </a:solidFill>
              </a:defRPr>
            </a:pPr>
            <a:r>
              <a:rPr lang="zh-TW" altLang="en-US" sz="1200" dirty="0">
                <a:solidFill>
                  <a:srgbClr val="9CA3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會議可拿出</a:t>
            </a:r>
            <a:r>
              <a:rPr lang="en-US" altLang="zh-TW" sz="1200" dirty="0">
                <a:solidFill>
                  <a:srgbClr val="9CA3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rgbClr val="9CA3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分析的學習歷程以利會議進行</a:t>
            </a:r>
            <a:endParaRPr sz="1200" dirty="0">
              <a:solidFill>
                <a:srgbClr val="9CA3A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學科場景與應用示例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2FE"/>
                </a:solidFill>
                <a:latin typeface="Microsoft JhengHei"/>
              </a:defRPr>
            </a:pPr>
            <a:r>
              <a:t>🏌️ 高爾夫球教學場景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● 動作力學大綱定義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於 Layer 1 定義下桿動力鏈、手腕釋放時機、桿面控制等核心知識節點。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● 測驗與問題診斷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於 Layer 2 收集作答，自動診斷學員肩膀搶跑（過頂切擊）或手腕釋放過早（鑄型）等動作異常。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● 動作矯正與 PDF 報告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提供分段重啟動作矯正建議，並匯出包含動作痛點與弱點診斷的個人化 PDF 報告。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Microsoft JhengHei"/>
              </a:defRPr>
            </a:pPr>
            <a:r>
              <a:rPr dirty="0"/>
              <a:t>🦴 </a:t>
            </a:r>
            <a:r>
              <a:rPr dirty="0" err="1"/>
              <a:t>骨科解剖學考照場景</a:t>
            </a:r>
            <a:endParaRPr dirty="0"/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● </a:t>
            </a:r>
            <a:r>
              <a:rPr dirty="0" err="1"/>
              <a:t>大綱與考照痛點</a:t>
            </a:r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解決題型、題目長度或空間解剖結構概念不清（如胸廓出口斜角肌隘口、前十字韌帶前拉試驗相對位移）導致的卡關</a:t>
            </a:r>
            <a:r>
              <a:rPr dirty="0"/>
              <a:t>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● </a:t>
            </a:r>
            <a:r>
              <a:rPr dirty="0" err="1"/>
              <a:t>診斷與定位流程</a:t>
            </a:r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測驗診斷</a:t>
            </a:r>
            <a:endParaRPr lang="en-US"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歷程分群</a:t>
            </a:r>
            <a:r>
              <a:rPr dirty="0"/>
              <a:t>/</a:t>
            </a:r>
            <a:r>
              <a:rPr dirty="0" err="1"/>
              <a:t>分階段與同儕百分比</a:t>
            </a:r>
            <a:r>
              <a:rPr dirty="0"/>
              <a:t> (PR) </a:t>
            </a:r>
            <a:r>
              <a:rPr dirty="0" err="1"/>
              <a:t>定位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輸出個別弱點與解剖位置建議</a:t>
            </a:r>
            <a:r>
              <a:rPr dirty="0"/>
              <a:t>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● </a:t>
            </a:r>
            <a:r>
              <a:rPr dirty="0" err="1"/>
              <a:t>臨床物理檢查整合</a:t>
            </a:r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整合理學檢查（如脛骨前向位移</a:t>
            </a:r>
            <a:r>
              <a:rPr dirty="0"/>
              <a:t> ACL </a:t>
            </a:r>
            <a:r>
              <a:rPr dirty="0" err="1"/>
              <a:t>檢測</a:t>
            </a:r>
            <a:r>
              <a:rPr dirty="0"/>
              <a:t>）</a:t>
            </a:r>
            <a:endParaRPr lang="en-US"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解剖起止點定義，系統化落地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USERS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Microsoft JhengHei"/>
              </a:defRPr>
            </a:pPr>
            <a:r>
              <a:t>使用者存取、自主學習與回饋機制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2FE"/>
                </a:solidFill>
                <a:latin typeface="Microsoft JhengHei"/>
              </a:defRPr>
            </a:pPr>
            <a:r>
              <a:t>👥 使用者與存取設計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• 以學生為主體、兼顧教師端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使用者以實習學員為主，亦包含老師端檢視分析與教學微調決策。特別適用於內部實習連動之學生。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• 免登入示範環境 (No-Login Demo)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現階段 Demo 示範不需要學生個別帳號即可觀看樣例，方便先行了解系統功能與資料流。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t>• 功能擴充流程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t>先行觀看 DEMO 確認評量功能與資料管線，後續再擴充權限。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Microsoft JhengHei"/>
              </a:defRPr>
            </a:pPr>
            <a:r>
              <a:rPr dirty="0"/>
              <a:t>🔄 </a:t>
            </a:r>
            <a:r>
              <a:rPr dirty="0" err="1"/>
              <a:t>自主學習與教學回饋</a:t>
            </a:r>
            <a:endParaRPr dirty="0"/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自主學習支持</a:t>
            </a:r>
            <a:r>
              <a:rPr dirty="0"/>
              <a:t> (Self-Monitoring)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透過學習歷程、弱點診斷、PDF</a:t>
            </a:r>
            <a:r>
              <a:rPr dirty="0"/>
              <a:t> </a:t>
            </a:r>
            <a:r>
              <a:rPr dirty="0" err="1"/>
              <a:t>報告匯出，強化學員的自我監測、檢視與學習規劃能力</a:t>
            </a:r>
            <a:r>
              <a:rPr dirty="0"/>
              <a:t>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教學策略動態微調</a:t>
            </a:r>
            <a:r>
              <a:rPr dirty="0"/>
              <a:t> (Teaching Alignment)</a:t>
            </a:r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教師收到</a:t>
            </a:r>
            <a:r>
              <a:rPr dirty="0"/>
              <a:t> AI </a:t>
            </a:r>
            <a:r>
              <a:rPr dirty="0" err="1"/>
              <a:t>彙整後之診斷報告，可迅速掌握班級同儕分佈與個別弱點，調整下一次教學重點</a:t>
            </a:r>
            <a:r>
              <a:rPr dirty="0"/>
              <a:t>。</a:t>
            </a:r>
          </a:p>
          <a:p>
            <a:pPr>
              <a:defRPr sz="1300" b="1">
                <a:solidFill>
                  <a:srgbClr val="F3F4F6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考核機制系統化落地</a:t>
            </a:r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9CA3AF"/>
                </a:solidFill>
                <a:latin typeface="Microsoft JhengHei"/>
              </a:defRPr>
            </a:pPr>
            <a:r>
              <a:rPr dirty="0" err="1"/>
              <a:t>參考並類比臨床考核機制流程，將通過條件與多元評量標準系統化落地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554</Words>
  <Application>Microsoft Office PowerPoint</Application>
  <PresentationFormat>寬螢幕</PresentationFormat>
  <Paragraphs>96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明暉 張</cp:lastModifiedBy>
  <cp:revision>3</cp:revision>
  <dcterms:created xsi:type="dcterms:W3CDTF">2013-01-27T09:14:16Z</dcterms:created>
  <dcterms:modified xsi:type="dcterms:W3CDTF">2026-07-05T01:11:28Z</dcterms:modified>
  <cp:category/>
</cp:coreProperties>
</file>